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8" autoAdjust="0"/>
    <p:restoredTop sz="50000" autoAdjust="0"/>
  </p:normalViewPr>
  <p:slideViewPr>
    <p:cSldViewPr snapToGrid="0" snapToObjects="1">
      <p:cViewPr varScale="1">
        <p:scale>
          <a:sx n="75" d="100"/>
          <a:sy n="75" d="100"/>
        </p:scale>
        <p:origin x="8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43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0506" y="784116"/>
            <a:ext cx="87655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00266" y="1650259"/>
            <a:ext cx="782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API (Java) в Kubernetes (Minikube) + HPA + мониторинг Prometheus/Grafana</a:t>
            </a:r>
            <a:endParaRPr lang="en-US" sz="1600" dirty="0"/>
          </a:p>
        </p:txBody>
      </p:sp>
      <p:pic>
        <p:nvPicPr>
          <p:cNvPr id="4" name="Image 0" descr="/mnt/data/assets/kuberne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144" y="2790722"/>
            <a:ext cx="2530269" cy="1897703"/>
          </a:xfrm>
          <a:prstGeom prst="rect">
            <a:avLst/>
          </a:prstGeom>
        </p:spPr>
      </p:pic>
      <p:pic>
        <p:nvPicPr>
          <p:cNvPr id="5" name="Image 1" descr="/mnt/data/assets/do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673" y="2644162"/>
            <a:ext cx="3720465" cy="850392"/>
          </a:xfrm>
          <a:prstGeom prst="rect">
            <a:avLst/>
          </a:prstGeom>
        </p:spPr>
      </p:pic>
      <p:pic>
        <p:nvPicPr>
          <p:cNvPr id="6" name="Image 2" descr="/mnt/data/assets/promethe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378" y="3893219"/>
            <a:ext cx="822960" cy="822960"/>
          </a:xfrm>
          <a:prstGeom prst="rect">
            <a:avLst/>
          </a:prstGeom>
        </p:spPr>
      </p:pic>
      <p:pic>
        <p:nvPicPr>
          <p:cNvPr id="7" name="Image 3" descr="/mnt/data/assets/grafa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646" y="3788642"/>
            <a:ext cx="1234440" cy="1190008"/>
          </a:xfrm>
          <a:prstGeom prst="rect">
            <a:avLst/>
          </a:prstGeom>
        </p:spPr>
      </p:pic>
      <p:pic>
        <p:nvPicPr>
          <p:cNvPr id="8" name="Image 4" descr="/mnt/data/assets/hel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6394" y="3893219"/>
            <a:ext cx="822960" cy="82296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780506" y="5669280"/>
            <a:ext cx="4023360" cy="347472"/>
          </a:xfrm>
          <a:prstGeom prst="roundRect">
            <a:avLst/>
          </a:prstGeom>
          <a:solidFill>
            <a:srgbClr val="38BDF8">
              <a:alpha val="82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1917666" y="5733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проект (локальный кластер)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5986746" y="5669280"/>
            <a:ext cx="4480560" cy="347472"/>
          </a:xfrm>
          <a:prstGeom prst="roundRect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6123906" y="57332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Фокус: развёртывание • autoscaling • observability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Березняк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 зачем было сделано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66928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2240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5394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микросервис для анализа тональности в Kubernetes.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сервис наблюдаемым (метрики) и масштабируемым (HPA).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Продемонстрировать полный цикл: контейнер → манифесты → мониторинг.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4873752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600200"/>
            <a:ext cx="73152" cy="2240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73736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результаты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3992" y="2103120"/>
            <a:ext cx="459943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реплики приложения + Service + Ingress.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HPA: 3…10 реплик по CPU (target 50%).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через kube-prometheus-stack.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метрики Spring Boot через /actuator/prometheus.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10817352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160520"/>
            <a:ext cx="73152" cy="2148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2976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демонстрируем на защите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4663440"/>
            <a:ext cx="105430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доступ к API через Ingress: /api/sentiment и /health;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нагрузки → рост реплик (kubectl get hpa -w);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сбор метрик в Prometheus и визуализация в Grafana;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связь с современными трендами (arXiv 2024–2025): AI-driven autoscaling и оптимизация инференса.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Используемый стек и среда выполнения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и окружение из отчёта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7640" y="2011680"/>
            <a:ext cx="6324600" cy="42976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assets/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7" y="2231136"/>
            <a:ext cx="1362205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219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2478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образа sentiment-app и запуск контейнера</a:t>
            </a:r>
            <a:endParaRPr lang="en-US" sz="1150" dirty="0"/>
          </a:p>
        </p:txBody>
      </p:sp>
      <p:pic>
        <p:nvPicPr>
          <p:cNvPr id="10" name="Image 1" descr="/mnt/data/assets/kuberne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26664"/>
            <a:ext cx="68580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0083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3264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Deployment/Service/Ingress/HPA в локальном кластере</a:t>
            </a:r>
            <a:endParaRPr lang="en-US" sz="1150" dirty="0"/>
          </a:p>
        </p:txBody>
      </p:sp>
      <p:pic>
        <p:nvPicPr>
          <p:cNvPr id="13" name="Image 2" descr="/mnt/data/assets/he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1304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794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00200" y="40507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kube-prometheus-stack</a:t>
            </a:r>
            <a:endParaRPr lang="en-US" sz="1150" dirty="0"/>
          </a:p>
        </p:txBody>
      </p:sp>
      <p:pic>
        <p:nvPicPr>
          <p:cNvPr id="16" name="Image 3" descr="/mnt/data/assets/promethe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99432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5811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600200" y="48371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метрик через ServiceMonitor (PromQL)</a:t>
            </a:r>
            <a:endParaRPr lang="en-US" sz="1150" dirty="0"/>
          </a:p>
        </p:txBody>
      </p:sp>
      <p:pic>
        <p:nvPicPr>
          <p:cNvPr id="19" name="Image 4" descr="/mnt/data/assets/grafa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85816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53675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600200" y="5623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HPA / Pods / JVM / HTTP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72084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выполнения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6720840" y="2011680"/>
            <a:ext cx="5468112" cy="42976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5" descr="/mnt/data/assets/ubunt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2240280"/>
            <a:ext cx="594360" cy="5943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818120" y="2221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(VM)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7818120" y="24963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VMware Workstation; ресурсы VM: 4 CPU / 5.5 GB RAM.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7818120" y="3063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 хоста: Windows 11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7818120" y="3429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 + Maven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81812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Minikube: addons ingress + metrics-server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781812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NGINX + minikube tunnel (LoadBalancer)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Потоки: входящий трафик • метрики • autoscaling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10817352" cy="4389120"/>
          </a:xfrm>
          <a:prstGeom prst="rect">
            <a:avLst/>
          </a:prstGeom>
          <a:solidFill>
            <a:srgbClr val="0B1320">
              <a:alpha val="85000"/>
            </a:srgbClr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971800"/>
            <a:ext cx="1965960" cy="960120"/>
          </a:xfrm>
          <a:prstGeom prst="rect">
            <a:avLst/>
          </a:prstGeom>
          <a:solidFill>
            <a:srgbClr val="111827"/>
          </a:solidFill>
          <a:ln w="15240">
            <a:solidFill>
              <a:srgbClr val="334155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081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35584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ab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14884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4414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(NGINX)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7157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/api, /health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520440"/>
            <a:ext cx="214884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36301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904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560320"/>
            <a:ext cx="2743200" cy="182880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6700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9443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sentiment-app (Spring Boot)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+ requests/limits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3 (HPA до 10)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2331720"/>
            <a:ext cx="2240280" cy="86868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9720" y="2441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715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target 50%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3…10 replicas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3520440"/>
            <a:ext cx="2240280" cy="1234440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3630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3904488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3456432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2761488"/>
            <a:ext cx="457200" cy="30175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32120" y="3950208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32520" y="2971800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32520" y="4160520"/>
            <a:ext cx="3200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60120" y="6144768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Легенда: вход → Ingress → Service → Pods; метрики → Prometheus → Grafana; HPA масштабирует 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 о каждом блоке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API (Java)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/api/sentiment, /health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/actuator/prometheus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8080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36576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реплики по умолчанию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Liveness/Readiness probes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Requests/Limits по CPU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70916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709160"/>
            <a:ext cx="73152" cy="1325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846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Ingress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52120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(LoadBalancer) + minikube tunnel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NGINX: /api и /health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73952" y="160020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160020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8544" y="21031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3…10 реплик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CPU utilization: 50%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Server (addon)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73952" y="315468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315468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38544" y="36576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для приложения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системных и app-метрик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4709160"/>
            <a:ext cx="548640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3952" y="4709160"/>
            <a:ext cx="73152" cy="13258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4846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38544" y="52120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дашборды k8s/HPA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Панели JVM/HTTP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(PromQL)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кластера и подготовка окружения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создания кластера (Minikube)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143500" cy="42976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6035040" cy="1286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Установка: Docker, kubectl, minikube, helm.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кластера: minikube start --cpus=4 --memory=5632.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Включение аддонов: ingress, metrics-server.</a:t>
            </a:r>
            <a:endParaRPr lang="en-US" sz="1450" dirty="0"/>
          </a:p>
          <a:p>
            <a:pPr marL="184150" indent="-18415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Service типа LoadBalancer: minikube tunnel.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0AC7539-7232-4D7B-8B75-A2131C2D4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00858"/>
            <a:ext cx="6986039" cy="302854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6B2B2FA-CF28-4692-9B8B-0DA4FA5ED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342940"/>
            <a:ext cx="6332863" cy="3145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манифестов и проверка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542592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2331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Манифесты Kubernetes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5806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3 replicas + probes + requests/limits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LoadBalancer (minikube tunnel)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Ingress: правила /api и /health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HPA: min=3, max=10, cpu=50%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3542592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4160520"/>
            <a:ext cx="73152" cy="2148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29768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после apply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4663440"/>
            <a:ext cx="5806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pods,svc,ingress,hpa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http://&lt;host&gt;/api/sentiment (POST JSON)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http://&lt;host&gt;/health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hpa (текущие метрики)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2239958-2E3E-4FCB-8E65-A403F5E4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832" y="550380"/>
            <a:ext cx="7775537" cy="38679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2EF61D0-D758-4136-AAFB-769782D7D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832" y="4492731"/>
            <a:ext cx="7833496" cy="1960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Автомасштабирование (HPA)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→ рост реплик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2727101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HPA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2433721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CPU utilization = 50%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3…10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метрик: metrics-server (addon)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Наблюдение: kubectl get hpa -w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886200"/>
            <a:ext cx="388710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886200"/>
            <a:ext cx="73152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023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Нагрузочное тестирование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4389120"/>
            <a:ext cx="37225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ApacheBench (ab) / curl-циклы.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повышает CPU → HPA увеличивает replicas.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стабилизации нагрузки — постепенный scale down.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9E0F936-68F0-451A-978D-DC69DA4A4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644" y="3197456"/>
            <a:ext cx="7187418" cy="332199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C96F346-346D-4528-A9ED-0A51CF824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47" y="1600200"/>
            <a:ext cx="8538815" cy="1514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(kube-prometheus-stack)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754880" cy="4709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assets/promethe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470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39572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метрик приложения через ServiceMonitor: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2670048"/>
            <a:ext cx="5669280" cy="10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Actuator: /actuator/prometheus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через ServiceMonitor (label selectors)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 + node-exporter — системные метрики</a:t>
            </a:r>
            <a:endParaRPr lang="en-US" sz="1350" dirty="0"/>
          </a:p>
        </p:txBody>
      </p:sp>
      <p:pic>
        <p:nvPicPr>
          <p:cNvPr id="10" name="Image 1" descr="/mnt/data/assets/grafa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77640"/>
            <a:ext cx="68580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9867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455371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(готовые + кастомные):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60120" y="4873752"/>
            <a:ext cx="5669280" cy="10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Nodes / Pods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(replicas, CPU)</a:t>
            </a:r>
            <a:endParaRPr lang="en-US" sz="135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+ HTTP метрики приложения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BBC1A37-F93F-458B-8B49-7F4DFA727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618488"/>
            <a:ext cx="66187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трендов (arXiv, 2024–2025)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autoscaling и устойчивость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1150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11228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HPA Multi-Agent System (2025)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112288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декомпозиция цели «устойчивость» на failure-specific подцели, за которые отвечают агенты.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Дизайн-фреймворк: digital twin → обучение в симуляции → анализ поведения → перенос в кластер.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проекта: следующий шаг после threshold-based HPA — ML/RL-скейлер с расширенными метриками.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11503152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703320"/>
            <a:ext cx="73152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840480"/>
            <a:ext cx="11228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BAScaler (2024)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4206240"/>
            <a:ext cx="11228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Burst-aware autoscaling: предсказание периодических всплесков + детекция «настоящих» бурстов.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Комбинация: ML для burst detection + RL для корректировки оценок ресурсов в «не бурст» режимах.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можно улучшить HPA, добавив предиктивную компоненту (RPS/latency/errors) поверх Prometheus.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15031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9618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проектом: текущий HPA по CPU = базовый уровень. Потенциал развития — multi-metric + предсказание нагрузки + RL-контроллер.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трендов (arXiv, 2024–2025)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LLM, GPU и cold-start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11503152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1783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11228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AIBrix (2025)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11228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фреймворк для LLM-инференса: LLM-specific autoscalers, prefix-aware routing, distributed KV cache.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оркестрация: Kubernetes (coarse) + Ray (fine-grained) для multi-node serving.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для проекта: при переходе от rule-based анализа к LLM — потребуется оптимизация холодных стартов и кэшей.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62356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611880"/>
            <a:ext cx="73152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490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KIS-S (2025)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4114800"/>
            <a:ext cx="5349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GPU-aware simulator + PPO-скейлер для inference workloads.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GPU-метрик и P95 latency вместо только CPU.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проекта: следующий уровень — метрики latency + GPU (если появятся), обучение политики в симуляции.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65392" y="3611880"/>
            <a:ext cx="562356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65392" y="3611880"/>
            <a:ext cx="73152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37490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Cold starts + MPC (2025)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9984" y="4114800"/>
            <a:ext cx="5349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Проактивное планирование serverless: прогноз вызовов → prewarming + dispatching.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снизить tail-latency и расход ресурсов.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проекта: при Knative/KServe можно применить идеи prewarming для инференса моделей.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806440"/>
            <a:ext cx="11503152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253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вывод: observability (Prometheus/Grafana) — база для перехода к AI-driven autoscaling и более «умному» scheduling.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МИФИ — Оркестрация и контейнеризация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Итоги, трудности, перспективы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20095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66928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37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достижения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пайплайн: Docker → Kubernetes → Ingress → HPA.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Наблюдаемость: Prometheus + Grafana + ServiceMonitor.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расширению: multi-metric scaling, более сложные модели анализа тональности.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5559552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60020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73736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Трудности и решения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93992" y="2103120"/>
            <a:ext cx="5285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в Minikube → minikube tunnel.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для HPA → включён metrics-server addon.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метрик приложения → Actuator + корректный ServiceMonitor/labels.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11503152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886200"/>
            <a:ext cx="73152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023360"/>
            <a:ext cx="11228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(дальнейшее развитие)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" y="4389120"/>
            <a:ext cx="112288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Перейти к multi-metric autoscaling: CPU + latency + RPS + error rate (PromQL).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Экспериментировать с предиктивным scaling (ML/RL) на основе собранных метрик.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Подготовить перенос в managed Kubernetes (GKE/EKS/AKS): storage, ingress, secrets.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Вариант «в будущее»: замена rule-based логики на ML/LLM и оптимизация cold-start (Knative/KServe).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601968"/>
            <a:ext cx="10820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1239</Words>
  <Application>Microsoft Office PowerPoint</Application>
  <PresentationFormat>Широкоэкранный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Инженер Берёза</dc:creator>
  <cp:lastModifiedBy>Владимир Березняк</cp:lastModifiedBy>
  <cp:revision>7</cp:revision>
  <dcterms:created xsi:type="dcterms:W3CDTF">2025-12-29T18:55:22Z</dcterms:created>
  <dcterms:modified xsi:type="dcterms:W3CDTF">2025-12-29T19:22:21Z</dcterms:modified>
</cp:coreProperties>
</file>